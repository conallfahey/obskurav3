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d4eaaa151724b84" /><Relationship Type="http://schemas.openxmlformats.org/officeDocument/2006/relationships/extended-properties" Target="/docProps/app.xml" Id="Rc78947e3bb29452e" /><Relationship Type="http://schemas.openxmlformats.org/officeDocument/2006/relationships/officeDocument" Target="/ppt/presentation.xml" Id="Rafa7791a6a7746c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2a7cbe5902144fc"/>
  </p:sldMasterIdLst>
  <p:notesMasterIdLst>
    <p:notesMasterId xmlns:r="http://schemas.openxmlformats.org/officeDocument/2006/relationships" r:id="R12796315880b4b7c"/>
  </p:notesMasterIdLst>
  <p:sldIdLst>
    <p:sldId xmlns:r="http://schemas.openxmlformats.org/officeDocument/2006/relationships" id="256" r:id="Rd9ec16470e0d43d5"/>
    <p:sldId xmlns:r="http://schemas.openxmlformats.org/officeDocument/2006/relationships" id="257" r:id="R1e8b50f8fe934e9c"/>
    <p:sldId xmlns:r="http://schemas.openxmlformats.org/officeDocument/2006/relationships" id="258" r:id="Rd76bcabe7b6f4f01"/>
    <p:sldId xmlns:r="http://schemas.openxmlformats.org/officeDocument/2006/relationships" id="259" r:id="R5b93304aefb94862"/>
    <p:sldId xmlns:r="http://schemas.openxmlformats.org/officeDocument/2006/relationships" id="260" r:id="Rdc8c7b55334442d6"/>
    <p:sldId xmlns:r="http://schemas.openxmlformats.org/officeDocument/2006/relationships" id="261" r:id="Reb30804b5b15413f"/>
    <p:sldId xmlns:r="http://schemas.openxmlformats.org/officeDocument/2006/relationships" id="262" r:id="Rd5cc80c03b59459b"/>
    <p:sldId xmlns:r="http://schemas.openxmlformats.org/officeDocument/2006/relationships" id="263" r:id="R9afd89a3615b49b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a7cbe5902144fc" /><Relationship Type="http://schemas.openxmlformats.org/officeDocument/2006/relationships/theme" Target="/ppt/theme/theme1.xml" Id="R4ec110c337cf4500" /><Relationship Type="http://schemas.openxmlformats.org/officeDocument/2006/relationships/notesMaster" Target="/ppt/notesMasters/notesMaster1.xml" Id="R12796315880b4b7c" /><Relationship Type="http://schemas.openxmlformats.org/officeDocument/2006/relationships/presProps" Target="/ppt/presProps.xml" Id="R8bc2d32cdaa14a11" /><Relationship Type="http://schemas.openxmlformats.org/officeDocument/2006/relationships/viewProps" Target="/ppt/viewProps.xml" Id="Rfc05dc20ae0c4ffc" /><Relationship Type="http://schemas.openxmlformats.org/officeDocument/2006/relationships/tableStyles" Target="/ppt/tableStyles.xml" Id="Ra2cf578c89a2418c" /><Relationship Type="http://schemas.openxmlformats.org/officeDocument/2006/relationships/slide" Target="/ppt/slides/slide1.xml" Id="Rd9ec16470e0d43d5" /><Relationship Type="http://schemas.openxmlformats.org/officeDocument/2006/relationships/slide" Target="/ppt/slides/slide2.xml" Id="R1e8b50f8fe934e9c" /><Relationship Type="http://schemas.openxmlformats.org/officeDocument/2006/relationships/slide" Target="/ppt/slides/slide3.xml" Id="Rd76bcabe7b6f4f01" /><Relationship Type="http://schemas.openxmlformats.org/officeDocument/2006/relationships/slide" Target="/ppt/slides/slide4.xml" Id="R5b93304aefb94862" /><Relationship Type="http://schemas.openxmlformats.org/officeDocument/2006/relationships/slide" Target="/ppt/slides/slide5.xml" Id="Rdc8c7b55334442d6" /><Relationship Type="http://schemas.openxmlformats.org/officeDocument/2006/relationships/slide" Target="/ppt/slides/slide6.xml" Id="Reb30804b5b15413f" /><Relationship Type="http://schemas.openxmlformats.org/officeDocument/2006/relationships/slide" Target="/ppt/slides/slide7.xml" Id="Rd5cc80c03b59459b" /><Relationship Type="http://schemas.openxmlformats.org/officeDocument/2006/relationships/slide" Target="/ppt/slides/slide8.xml" Id="R9afd89a3615b49b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fc2383a0cb1241c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6bef6fbc3e944b4" /><Relationship Type="http://schemas.openxmlformats.org/officeDocument/2006/relationships/notesMaster" Target="/ppt/notesMasters/notesMaster1.xml" Id="R7b49b616293a401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dcf9ce58ab249bb" /><Relationship Type="http://schemas.openxmlformats.org/officeDocument/2006/relationships/notesMaster" Target="/ppt/notesMasters/notesMaster1.xml" Id="R7113642a7e914bc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cc626f44f4047cd" /><Relationship Type="http://schemas.openxmlformats.org/officeDocument/2006/relationships/notesMaster" Target="/ppt/notesMasters/notesMaster1.xml" Id="Rbb89e989b4f24cd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a32150617c04e01" /><Relationship Type="http://schemas.openxmlformats.org/officeDocument/2006/relationships/notesMaster" Target="/ppt/notesMasters/notesMaster1.xml" Id="Rdb98434f4b2c4bc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cfdef1628f64873" /><Relationship Type="http://schemas.openxmlformats.org/officeDocument/2006/relationships/notesMaster" Target="/ppt/notesMasters/notesMaster1.xml" Id="Ra9961a1fa0fa4b9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b8209e330194bb1" /><Relationship Type="http://schemas.openxmlformats.org/officeDocument/2006/relationships/notesMaster" Target="/ppt/notesMasters/notesMaster1.xml" Id="Ra13c8447d98b49b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7b886432ba647d7" /><Relationship Type="http://schemas.openxmlformats.org/officeDocument/2006/relationships/notesMaster" Target="/ppt/notesMasters/notesMaster1.xml" Id="R67187d8839244a9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74e0620a2e14caf" /><Relationship Type="http://schemas.openxmlformats.org/officeDocument/2006/relationships/notesMaster" Target="/ppt/notesMasters/notesMaster1.xml" Id="Rdd5939800f0449a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4f56399dd64009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b0da3b81423844e6" /><Relationship Type="http://schemas.openxmlformats.org/officeDocument/2006/relationships/slideLayout" Target="/ppt/slideLayouts/slideLayout2.xml" Id="R51428fbe553e4a9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1428fbe553e4a9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b79bd66e5f9445b" /><Relationship Type="http://schemas.openxmlformats.org/officeDocument/2006/relationships/image" Target="/ppt/media/image.jpeg" Id="R2e61190c6e1041a5" /><Relationship Type="http://schemas.openxmlformats.org/officeDocument/2006/relationships/image" Target="/ppt/media/image.png" Id="R0f1ad81eaebe434a" /><Relationship Type="http://schemas.openxmlformats.org/officeDocument/2006/relationships/notesSlide" Target="/ppt/notesSlides/notesSlide1.xml" Id="R0104d69bf6e4475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d59835e08594157" /><Relationship Type="http://schemas.openxmlformats.org/officeDocument/2006/relationships/notesSlide" Target="/ppt/notesSlides/notesSlide2.xml" Id="Rd28e09b91fc6480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8aadc508dc54c79" /><Relationship Type="http://schemas.openxmlformats.org/officeDocument/2006/relationships/image" Target="/ppt/media/image2.jpeg" Id="Rb8d2fd5293ca4885" /><Relationship Type="http://schemas.openxmlformats.org/officeDocument/2006/relationships/image" Target="/ppt/media/image3.jpeg" Id="Rf252d9ca8d844b07" /><Relationship Type="http://schemas.openxmlformats.org/officeDocument/2006/relationships/image" Target="/ppt/media/image4.jpeg" Id="R1f2d472ec6614d62" /><Relationship Type="http://schemas.openxmlformats.org/officeDocument/2006/relationships/image" Target="/ppt/media/image5.jpeg" Id="R3df20bbc89e94578" /><Relationship Type="http://schemas.openxmlformats.org/officeDocument/2006/relationships/notesSlide" Target="/ppt/notesSlides/notesSlide3.xml" Id="Rd2425484690d435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1b0c0bd9d6540eb" /><Relationship Type="http://schemas.openxmlformats.org/officeDocument/2006/relationships/image" Target="/ppt/media/image6.jpeg" Id="R4a0e499eb36d43d7" /><Relationship Type="http://schemas.openxmlformats.org/officeDocument/2006/relationships/notesSlide" Target="/ppt/notesSlides/notesSlide4.xml" Id="R7b1e93d5119840b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251e241a03141e9" /><Relationship Type="http://schemas.openxmlformats.org/officeDocument/2006/relationships/image" Target="/ppt/media/image7.jpeg" Id="Rb726b794e98a474e" /><Relationship Type="http://schemas.openxmlformats.org/officeDocument/2006/relationships/image" Target="/ppt/media/image8.jpeg" Id="R42e99c49879d437a" /><Relationship Type="http://schemas.openxmlformats.org/officeDocument/2006/relationships/image" Target="/ppt/media/image9.jpeg" Id="Re9cef28be0a14ce4" /><Relationship Type="http://schemas.openxmlformats.org/officeDocument/2006/relationships/image" Target="/ppt/media/image2.png" Id="R6bbcb1a9c1504ef5" /><Relationship Type="http://schemas.openxmlformats.org/officeDocument/2006/relationships/notesSlide" Target="/ppt/notesSlides/notesSlide5.xml" Id="Rfeda2b5242e8425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daef6ef7c434673" /><Relationship Type="http://schemas.openxmlformats.org/officeDocument/2006/relationships/image" Target="/ppt/media/image10.jpeg" Id="R47a697b2fe654a2d" /><Relationship Type="http://schemas.openxmlformats.org/officeDocument/2006/relationships/notesSlide" Target="/ppt/notesSlides/notesSlide6.xml" Id="R4db1f79d635c453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b57273947dc4421" /><Relationship Type="http://schemas.openxmlformats.org/officeDocument/2006/relationships/image" Target="/ppt/media/image11.jpeg" Id="R7d6dfe83a7024a53" /><Relationship Type="http://schemas.openxmlformats.org/officeDocument/2006/relationships/notesSlide" Target="/ppt/notesSlides/notesSlide7.xml" Id="Rf096ff92959c48b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4dfc931e9b64af2" /><Relationship Type="http://schemas.openxmlformats.org/officeDocument/2006/relationships/image" Target="/ppt/media/image12.jpeg" Id="R67fddcc66a0e4d9d" /><Relationship Type="http://schemas.openxmlformats.org/officeDocument/2006/relationships/image" Target="/ppt/media/image3.png" Id="R7662dc4aeb0f48ee" /><Relationship Type="http://schemas.openxmlformats.org/officeDocument/2006/relationships/notesSlide" Target="/ppt/notesSlides/notesSlide8.xml" Id="R88cc932c6170441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61190c6e1041a5"/>
          <a:srcRect xmlns:a="http://schemas.openxmlformats.org/drawingml/2006/main" l="0" t="7834" r="0" b="78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35E3C0-6442-46CA-BBA6-90D7F72E3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4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1ad81eaebe434a"/>
          <a:stretch xmlns:a="http://schemas.openxmlformats.org/drawingml/2006/main"/>
        </p:blipFill>
        <p:spPr>
          <a:xfrm xmlns:a="http://schemas.openxmlformats.org/drawingml/2006/main">
            <a:off x="647700" y="499589"/>
            <a:ext cx="704850" cy="658171"/>
          </a:xfrm>
          <a:prstGeom xmlns:a="http://schemas.openxmlformats.org/drawingml/2006/main" prst="rect">
            <a:avLst/>
          </a:prstGeom>
        </p:spPr>
      </p:pic>
      <p:sp>
        <p:nvSpPr>
          <p:cNvPr id="4" name="kicker-1-marker">
            <a:extLst xmlns:a="http://schemas.openxmlformats.org/drawingml/2006/main">
              <a:ext uri="{FF2B5EF4-FFF2-40B4-BE49-F238E27FC236}">
                <a16:creationId xmlns:a16="http://schemas.microsoft.com/office/drawing/2014/main" id="{3809E541-CC3A-4B3F-9ED1-97C3B0EE5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763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4C29"/>
          </a:solidFill>
          <a:ln xmlns:a="http://schemas.openxmlformats.org/drawingml/2006/main" w="0">
            <a:solidFill>
              <a:srgbClr val="F84C29"/>
            </a:solidFill>
            <a:prstDash val="solid"/>
          </a:ln>
        </p:spPr>
      </p:sp>
      <p:sp>
        <p:nvSpPr>
          <p:cNvPr id="5" name="kicker-1-label">
            <a:extLst xmlns:a="http://schemas.openxmlformats.org/drawingml/2006/main">
              <a:ext uri="{FF2B5EF4-FFF2-40B4-BE49-F238E27FC236}">
                <a16:creationId xmlns:a16="http://schemas.microsoft.com/office/drawing/2014/main" id="{35E6E3B8-7B3D-4C44-9B71-2EED60A81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09700"/>
            <a:ext cx="3143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BRAND DECK /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C12FF9-FC72-469B-92E6-E6599EE3C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71700"/>
            <a:ext cx="6858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0" b="0">
                <a:solidFill>
                  <a:srgbClr val="FFFFFF"/>
                </a:solidFill>
                <a:latin typeface="MonumentExtended"/>
                <a:ea typeface="MonumentExtended"/>
                <a:cs typeface="MonumentExtended"/>
              </a:defRPr>
            </a:pPr>
            <a:r>
              <a:rPr sz="5250" b="0">
                <a:solidFill>
                  <a:srgbClr val="FFFFFF"/>
                </a:solidFill>
                <a:latin typeface="MonumentExtended"/>
                <a:ea typeface="MonumentExtended"/>
                <a:cs typeface="MonumentExtended"/>
              </a:rPr>
              <a:t>OBSKURA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12F11F-0C23-4CAD-B949-ADFFFB522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7524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FFFFFF"/>
                </a:solidFill>
                <a:latin typeface="MonumentExtended-light"/>
                <a:ea typeface="MonumentExtended-light"/>
                <a:cs typeface="MonumentExtended-light"/>
              </a:defRPr>
            </a:pPr>
            <a:r>
              <a:rPr sz="3000" b="0">
                <a:solidFill>
                  <a:srgbClr val="FFFFFF"/>
                </a:solidFill>
                <a:latin typeface="MonumentExtended-light"/>
                <a:ea typeface="MonumentExtended-light"/>
                <a:cs typeface="MonumentExtended-light"/>
              </a:rPr>
              <a:t>Visual identity for live moments that travel.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8F6529-C53A-473D-A19D-E38088977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86300"/>
            <a:ext cx="4953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EDBD2"/>
                </a:solidFill>
                <a:latin typeface="Space Grotesk"/>
                <a:ea typeface="Space Grotesk"/>
                <a:cs typeface="Space Grotesk"/>
              </a:defRPr>
            </a:pPr>
            <a:r>
              <a:rPr sz="1500" b="0">
                <a:solidFill>
                  <a:srgbClr val="DEDBD2"/>
                </a:solidFill>
                <a:latin typeface="Space Grotesk"/>
                <a:ea typeface="Space Grotesk"/>
                <a:cs typeface="Space Grotesk"/>
              </a:rPr>
              <a:t>Branded content, full performance coverage, and after-movies for artists, venues, festivals, and culture-forward brands.</a:t>
            </a:r>
          </a:p>
        </p:txBody>
      </p:sp>
      <p:sp>
        <p:nvSpPr>
          <p:cNvPr id="9" name="rule">
            <a:extLst xmlns:a="http://schemas.openxmlformats.org/drawingml/2006/main">
              <a:ext uri="{FF2B5EF4-FFF2-40B4-BE49-F238E27FC236}">
                <a16:creationId xmlns:a16="http://schemas.microsoft.com/office/drawing/2014/main" id="{1C073A47-63B0-4A49-B7AF-F312BFAE6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29300"/>
            <a:ext cx="2038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4C29"/>
          </a:solidFill>
          <a:ln xmlns:a="http://schemas.openxmlformats.org/drawingml/2006/main" w="0">
            <a:solidFill>
              <a:srgbClr val="F84C2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D73F72-21AB-4D56-A0A8-0CDA9E50C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9055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CHICAGO AND BEYOND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E83221-5EF4-4D8D-8E50-89BEC5299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FFFFF">
                    <a:alpha val="60000"/>
                  </a:srgbClr>
                </a:solidFill>
                <a:latin typeface="Courier New"/>
                <a:ea typeface="Courier New"/>
                <a:cs typeface="Courier New"/>
              </a:defRPr>
            </a:pPr>
            <a:r>
              <a:rPr sz="750" b="0">
                <a:solidFill>
                  <a:srgbClr val="FFFFFF">
                    <a:alpha val="60000"/>
                  </a:srgbClr>
                </a:solidFill>
                <a:latin typeface="Courier New"/>
                <a:ea typeface="Courier New"/>
                <a:cs typeface="Courier New"/>
              </a:rPr>
              <a:t>SOURCE: CURRENT OBSKURA SITE ASSETS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02759F-5EDF-4804-9AE0-B3AD423EC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3890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FFFFFF">
                    <a:alpha val="60000"/>
                  </a:srgbClr>
                </a:solidFill>
                <a:latin typeface="Courier New"/>
                <a:ea typeface="Courier New"/>
                <a:cs typeface="Courier New"/>
              </a:defRPr>
            </a:pPr>
            <a:r>
              <a:rPr sz="750" b="0">
                <a:solidFill>
                  <a:srgbClr val="FFFFFF">
                    <a:alpha val="60000"/>
                  </a:srgbClr>
                </a:solidFill>
                <a:latin typeface="Courier New"/>
                <a:ea typeface="Courier New"/>
                <a:cs typeface="Courier New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4519218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78398C2-D301-4A51-97A6-A727D8A73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9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2-marker">
            <a:extLst xmlns:a="http://schemas.openxmlformats.org/drawingml/2006/main">
              <a:ext uri="{FF2B5EF4-FFF2-40B4-BE49-F238E27FC236}">
                <a16:creationId xmlns:a16="http://schemas.microsoft.com/office/drawing/2014/main" id="{821C0A90-4F31-46CC-9F02-9EB742633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4C29"/>
          </a:solidFill>
          <a:ln xmlns:a="http://schemas.openxmlformats.org/drawingml/2006/main" w="0">
            <a:solidFill>
              <a:srgbClr val="F84C29"/>
            </a:solidFill>
            <a:prstDash val="solid"/>
          </a:ln>
        </p:spPr>
      </p:sp>
      <p:sp>
        <p:nvSpPr>
          <p:cNvPr id="3" name="kicker-2-label">
            <a:extLst xmlns:a="http://schemas.openxmlformats.org/drawingml/2006/main">
              <a:ext uri="{FF2B5EF4-FFF2-40B4-BE49-F238E27FC236}">
                <a16:creationId xmlns:a16="http://schemas.microsoft.com/office/drawing/2014/main" id="{7EB4E3B9-6E8F-4C60-B01F-36496FE74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9100"/>
            <a:ext cx="3143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C0C0C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0C0C0C"/>
                </a:solidFill>
                <a:latin typeface="Courier New"/>
                <a:ea typeface="Courier New"/>
                <a:cs typeface="Courier New"/>
              </a:rPr>
              <a:t>BRAND 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ECFC7D-5916-4680-AFB0-F5D3E768A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5905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0C0C0C"/>
                </a:solidFill>
                <a:latin typeface="MonumentExtended"/>
                <a:ea typeface="MonumentExtended"/>
                <a:cs typeface="MonumentExtended"/>
              </a:defRPr>
            </a:pPr>
            <a:r>
              <a:rPr sz="2850" b="0">
                <a:solidFill>
                  <a:srgbClr val="0C0C0C"/>
                </a:solidFill>
                <a:latin typeface="MonumentExtended"/>
                <a:ea typeface="MonumentExtended"/>
                <a:cs typeface="MonumentExtended"/>
              </a:rPr>
              <a:t>Contrast is the system: paper, ink, signal.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0A3671-071E-4979-AD1E-D2AC294A4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62150"/>
            <a:ext cx="5143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C0C0C"/>
                </a:solidFill>
                <a:latin typeface="Space Grotesk"/>
                <a:ea typeface="Space Grotesk"/>
                <a:cs typeface="Space Grotesk"/>
              </a:defRPr>
            </a:pPr>
            <a:r>
              <a:rPr sz="1350" b="0">
                <a:solidFill>
                  <a:srgbClr val="0C0C0C"/>
                </a:solidFill>
                <a:latin typeface="Space Grotesk"/>
                <a:ea typeface="Space Grotesk"/>
                <a:cs typeface="Space Grotesk"/>
              </a:rPr>
              <a:t>The site already has a sharp identity. The deck translates it into a practical presentation system: heavy display type, thin metadata, hot orange for signal moments, and image-led proof.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F3E4A0-9329-4AB7-943D-F379D28FD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838200"/>
            <a:ext cx="7239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C0C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8E6609-33E3-4CA2-A794-82BEB70F3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38125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675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INK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1950B4-F615-4260-A0F4-6D495F6AF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838200"/>
            <a:ext cx="7239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9E1"/>
          </a:solidFill>
          <a:ln xmlns:a="http://schemas.openxmlformats.org/drawingml/2006/main" w="9525">
            <a:solidFill>
              <a:srgbClr val="0C0C0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40CC0C-6F75-4C21-B5F7-728BF61A8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38125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0C0C0C"/>
                </a:solidFill>
                <a:latin typeface="Courier New"/>
                <a:ea typeface="Courier New"/>
                <a:cs typeface="Courier New"/>
              </a:defRPr>
            </a:pPr>
            <a:r>
              <a:rPr sz="675" b="0">
                <a:solidFill>
                  <a:srgbClr val="0C0C0C"/>
                </a:solidFill>
                <a:latin typeface="Courier New"/>
                <a:ea typeface="Courier New"/>
                <a:cs typeface="Courier New"/>
              </a:rPr>
              <a:t>PAPER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82DE98-C8FF-46B7-AFF6-E79774261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838200"/>
            <a:ext cx="7239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4C29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77BB7E-40AD-475C-9D97-C17D5EB3C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8125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675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SIGNAL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14D5E8-409D-425D-A00F-06690540E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838200"/>
            <a:ext cx="7239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D2F5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33368A-4441-4C28-ADE8-36507FCA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38125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0C0C0C"/>
                </a:solidFill>
                <a:latin typeface="Courier New"/>
                <a:ea typeface="Courier New"/>
                <a:cs typeface="Courier New"/>
              </a:defRPr>
            </a:pPr>
            <a:r>
              <a:rPr sz="675" b="0">
                <a:solidFill>
                  <a:srgbClr val="0C0C0C"/>
                </a:solidFill>
                <a:latin typeface="Courier New"/>
                <a:ea typeface="Courier New"/>
                <a:cs typeface="Courier New"/>
              </a:rPr>
              <a:t>COLD LIGHT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AEF862-B092-4FA5-BA42-779C03AEE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838200"/>
            <a:ext cx="7239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D42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CB1527-9D4B-4C1F-A822-3695AA87C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38125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675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STEEL</a:t>
            </a:r>
          </a:p>
        </p:txBody>
      </p:sp>
      <p:sp>
        <p:nvSpPr>
          <p:cNvPr id="16" name="rule">
            <a:extLst xmlns:a="http://schemas.openxmlformats.org/drawingml/2006/main">
              <a:ext uri="{FF2B5EF4-FFF2-40B4-BE49-F238E27FC236}">
                <a16:creationId xmlns:a16="http://schemas.microsoft.com/office/drawing/2014/main" id="{0FA24271-8188-4706-BAD5-FD8A9ABDB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C0C"/>
          </a:solidFill>
          <a:ln xmlns:a="http://schemas.openxmlformats.org/drawingml/2006/main" w="0">
            <a:solidFill>
              <a:srgbClr val="0C0C0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24C595-25D7-4872-9799-654EB39D8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495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0C0C0C"/>
                </a:solidFill>
                <a:latin typeface="MonumentExtended"/>
                <a:ea typeface="MonumentExtended"/>
                <a:cs typeface="MonumentExtended"/>
              </a:defRPr>
            </a:pPr>
            <a:r>
              <a:rPr sz="2475" b="0">
                <a:solidFill>
                  <a:srgbClr val="0C0C0C"/>
                </a:solidFill>
                <a:latin typeface="MonumentExtended"/>
                <a:ea typeface="MonumentExtended"/>
                <a:cs typeface="MonumentExtended"/>
              </a:rPr>
              <a:t>MonumentExtended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5DC010-2A20-4CCB-B685-6F7C04DAB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84C29"/>
                </a:solidFill>
                <a:latin typeface="Courier New"/>
                <a:ea typeface="Courier New"/>
                <a:cs typeface="Courier New"/>
              </a:defRPr>
            </a:pPr>
            <a:r>
              <a:rPr sz="750" b="0">
                <a:solidFill>
                  <a:srgbClr val="F84C29"/>
                </a:solidFill>
                <a:latin typeface="Courier New"/>
                <a:ea typeface="Courier New"/>
                <a:cs typeface="Courier New"/>
              </a:rPr>
              <a:t>DISPLAY / LOGO-LIKE HEADLINES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121E25-0738-4C32-A7D7-BC9381EC7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5429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C0C0C"/>
                </a:solidFill>
                <a:latin typeface="Space Grotesk"/>
                <a:ea typeface="Space Grotesk"/>
                <a:cs typeface="Space Grotesk"/>
              </a:defRPr>
            </a:pPr>
            <a:r>
              <a:rPr sz="1500" b="0">
                <a:solidFill>
                  <a:srgbClr val="0C0C0C"/>
                </a:solidFill>
                <a:latin typeface="Space Grotesk"/>
                <a:ea typeface="Space Grotesk"/>
                <a:cs typeface="Space Grotesk"/>
              </a:rPr>
              <a:t>Space Grotesk carries the practical read: captions, bodies, and production notes. Courier New handles metadata and website-adjacent interface labels.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B40CEC-BD58-47F8-9303-BC81918BB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657600"/>
            <a:ext cx="1428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450" b="0">
                <a:solidFill>
                  <a:srgbClr val="F84C29"/>
                </a:solidFill>
                <a:latin typeface="MonumentExtended"/>
                <a:ea typeface="MonumentExtended"/>
                <a:cs typeface="MonumentExtended"/>
              </a:defRPr>
            </a:pPr>
            <a:r>
              <a:rPr sz="6450" b="0">
                <a:solidFill>
                  <a:srgbClr val="F84C29"/>
                </a:solidFill>
                <a:latin typeface="MonumentExtended"/>
                <a:ea typeface="MonumentExtended"/>
                <a:cs typeface="MonumentExtended"/>
              </a:rPr>
              <a:t>OS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B86151-BD8F-4AA6-9197-C845DE339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905250"/>
            <a:ext cx="971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0C0C0C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0C0C0C"/>
                </a:solidFill>
                <a:latin typeface="Courier New"/>
                <a:ea typeface="Courier New"/>
                <a:cs typeface="Courier New"/>
              </a:rPr>
              <a:t>01/08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E7A29B-25DB-4934-BF8E-1D6D6BCCF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30530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76767"/>
                </a:solidFill>
                <a:latin typeface="Courier New"/>
                <a:ea typeface="Courier New"/>
                <a:cs typeface="Courier New"/>
              </a:defRPr>
            </a:pPr>
            <a:r>
              <a:rPr sz="825" b="0">
                <a:solidFill>
                  <a:srgbClr val="676767"/>
                </a:solidFill>
                <a:latin typeface="Courier New"/>
                <a:ea typeface="Courier New"/>
                <a:cs typeface="Courier New"/>
              </a:rPr>
              <a:t>MONO METADATA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B7DE5D-C341-4D04-9E6A-B4D18E09E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0C0C0C">
                    <a:alpha val="60000"/>
                  </a:srgbClr>
                </a:solidFill>
                <a:latin typeface="Courier New"/>
                <a:ea typeface="Courier New"/>
                <a:cs typeface="Courier New"/>
              </a:defRPr>
            </a:pPr>
            <a:r>
              <a:rPr sz="750" b="0">
                <a:solidFill>
                  <a:srgbClr val="0C0C0C">
                    <a:alpha val="60000"/>
                  </a:srgbClr>
                </a:solidFill>
                <a:latin typeface="Courier New"/>
                <a:ea typeface="Courier New"/>
                <a:cs typeface="Courier New"/>
              </a:rPr>
              <a:t>COLORS + FONTS: CSS/INDEX.CSS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585E84-BC6B-4498-9FD6-7FBD3D912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3890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0C0C0C">
                    <a:alpha val="60000"/>
                  </a:srgbClr>
                </a:solidFill>
                <a:latin typeface="Courier New"/>
                <a:ea typeface="Courier New"/>
                <a:cs typeface="Courier New"/>
              </a:defRPr>
            </a:pPr>
            <a:r>
              <a:rPr sz="750" b="0">
                <a:solidFill>
                  <a:srgbClr val="0C0C0C">
                    <a:alpha val="60000"/>
                  </a:srgbClr>
                </a:solidFill>
                <a:latin typeface="Courier New"/>
                <a:ea typeface="Courier New"/>
                <a:cs typeface="Courier New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260637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F86771A-D2C4-4DB6-8074-272489A7E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C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3-marker">
            <a:extLst xmlns:a="http://schemas.openxmlformats.org/drawingml/2006/main">
              <a:ext uri="{FF2B5EF4-FFF2-40B4-BE49-F238E27FC236}">
                <a16:creationId xmlns:a16="http://schemas.microsoft.com/office/drawing/2014/main" id="{761BC4A2-225B-4057-826D-A420BD1F3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4C29"/>
          </a:solidFill>
          <a:ln xmlns:a="http://schemas.openxmlformats.org/drawingml/2006/main" w="0">
            <a:solidFill>
              <a:srgbClr val="F84C29"/>
            </a:solidFill>
            <a:prstDash val="solid"/>
          </a:ln>
        </p:spPr>
      </p:sp>
      <p:sp>
        <p:nvSpPr>
          <p:cNvPr id="3" name="kicker-3-label">
            <a:extLst xmlns:a="http://schemas.openxmlformats.org/drawingml/2006/main">
              <a:ext uri="{FF2B5EF4-FFF2-40B4-BE49-F238E27FC236}">
                <a16:creationId xmlns:a16="http://schemas.microsoft.com/office/drawing/2014/main" id="{F87D8EF5-5491-4DF6-983F-7B9E28099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9100"/>
            <a:ext cx="3143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VISUAL LANGUAGE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967031-42A7-49E9-8593-B188D4E42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3714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FFFFFF"/>
                </a:solidFill>
                <a:latin typeface="MonumentExtended"/>
                <a:ea typeface="MonumentExtended"/>
                <a:cs typeface="MonumentExtended"/>
              </a:defRPr>
            </a:pPr>
            <a:r>
              <a:rPr sz="3000" b="0">
                <a:solidFill>
                  <a:srgbClr val="FFFFFF"/>
                </a:solidFill>
                <a:latin typeface="MonumentExtended"/>
                <a:ea typeface="MonumentExtended"/>
                <a:cs typeface="MonumentExtended"/>
              </a:rPr>
              <a:t>Immediate.</a:t>
            </a:r>
          </a:p>
          <a:p xmlns:a="http://schemas.openxmlformats.org/drawingml/2006/main">
            <a:pPr algn="l">
              <a:defRPr sz="3000" b="0">
                <a:solidFill>
                  <a:srgbClr val="FFFFFF"/>
                </a:solidFill>
                <a:latin typeface="MonumentExtended"/>
                <a:ea typeface="MonumentExtended"/>
                <a:cs typeface="MonumentExtended"/>
              </a:defRPr>
            </a:pPr>
            <a:r>
              <a:rPr sz="3000" b="0">
                <a:solidFill>
                  <a:srgbClr val="FFFFFF"/>
                </a:solidFill>
                <a:latin typeface="MonumentExtended"/>
                <a:ea typeface="MonumentExtended"/>
                <a:cs typeface="MonumentExtended"/>
              </a:rPr>
              <a:t>Loud.</a:t>
            </a:r>
          </a:p>
          <a:p xmlns:a="http://schemas.openxmlformats.org/drawingml/2006/main">
            <a:pPr algn="l">
              <a:defRPr sz="3000" b="0">
                <a:solidFill>
                  <a:srgbClr val="FFFFFF"/>
                </a:solidFill>
                <a:latin typeface="MonumentExtended"/>
                <a:ea typeface="MonumentExtended"/>
                <a:cs typeface="MonumentExtended"/>
              </a:defRPr>
            </a:pPr>
            <a:r>
              <a:rPr sz="3000" b="0">
                <a:solidFill>
                  <a:srgbClr val="FFFFFF"/>
                </a:solidFill>
                <a:latin typeface="MonumentExtended"/>
                <a:ea typeface="MonumentExtended"/>
                <a:cs typeface="MonumentExtended"/>
              </a:rPr>
              <a:t>Controlled.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0F5630-E8F9-45D1-A849-A6E74B7B3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38400"/>
            <a:ext cx="40481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EDBD2"/>
                </a:solidFill>
                <a:latin typeface="Space Grotesk"/>
                <a:ea typeface="Space Grotesk"/>
                <a:cs typeface="Space Grotesk"/>
              </a:defRPr>
            </a:pPr>
            <a:r>
              <a:rPr sz="1425" b="0">
                <a:solidFill>
                  <a:srgbClr val="DEDBD2"/>
                </a:solidFill>
                <a:latin typeface="Space Grotesk"/>
                <a:ea typeface="Space Grotesk"/>
                <a:cs typeface="Space Grotesk"/>
              </a:rPr>
              <a:t>Obskura imagery works best when the crop feels close to the event: light hitting skin, crowds in motion, a performer held in the frame with confidence.</a:t>
            </a:r>
          </a:p>
        </p:txBody>
      </p:sp>
      <p:sp>
        <p:nvSpPr>
          <p:cNvPr id="6" name="rule">
            <a:extLst xmlns:a="http://schemas.openxmlformats.org/drawingml/2006/main">
              <a:ext uri="{FF2B5EF4-FFF2-40B4-BE49-F238E27FC236}">
                <a16:creationId xmlns:a16="http://schemas.microsoft.com/office/drawing/2014/main" id="{AF127DAF-D27C-4BDE-AFC4-0EDC1B947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00450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4C29"/>
          </a:solidFill>
          <a:ln xmlns:a="http://schemas.openxmlformats.org/drawingml/2006/main" w="0">
            <a:solidFill>
              <a:srgbClr val="F84C2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95E91F-6843-4089-BE16-9A835CFB7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624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84C29"/>
                </a:solidFill>
                <a:latin typeface="Courier New"/>
                <a:ea typeface="Courier New"/>
                <a:cs typeface="Courier New"/>
              </a:defRPr>
            </a:pPr>
            <a:r>
              <a:rPr sz="825" b="0">
                <a:solidFill>
                  <a:srgbClr val="F84C29"/>
                </a:solidFill>
                <a:latin typeface="Courier New"/>
                <a:ea typeface="Courier New"/>
                <a:cs typeface="Courier New"/>
              </a:rPr>
              <a:t>CROP RULES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9A6A3D-02FC-439F-B87B-AD38B04ED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67200"/>
            <a:ext cx="35433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EDBD2"/>
                </a:solidFill>
                <a:latin typeface="Space Grotesk"/>
                <a:ea typeface="Space Grotesk"/>
                <a:cs typeface="Space Grotesk"/>
              </a:defRPr>
            </a:pPr>
            <a:r>
              <a:rPr sz="1275" b="0">
                <a:solidFill>
                  <a:srgbClr val="DEDBD2"/>
                </a:solidFill>
                <a:latin typeface="Space Grotesk"/>
                <a:ea typeface="Space Grotesk"/>
                <a:cs typeface="Space Grotesk"/>
              </a:rPr>
              <a:t>Use full-bleed moments for emotion. Use grids only when range is the point. Keep captions small and factual.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d2fd5293ca4885"/>
          <a:srcRect xmlns:a="http://schemas.openxmlformats.org/drawingml/2006/main" l="19232" t="0" r="1923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19700" y="571500"/>
            <a:ext cx="2724150" cy="2952750"/>
          </a:xfrm>
          <a:prstGeom xmlns:a="http://schemas.openxmlformats.org/drawingml/2006/main" prst="rect">
            <a:avLst/>
          </a:prstGeom>
        </p:spPr>
      </p:pic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52d9ca8d844b07"/>
          <a:srcRect xmlns:a="http://schemas.openxmlformats.org/drawingml/2006/main" l="0" t="480" r="0" b="48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53400" y="571500"/>
            <a:ext cx="3143250" cy="2076450"/>
          </a:xfrm>
          <a:prstGeom xmlns:a="http://schemas.openxmlformats.org/drawingml/2006/main" prst="rect">
            <a:avLst/>
          </a:prstGeom>
        </p:spPr>
      </p:pic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2d472ec6614d62"/>
          <a:srcRect xmlns:a="http://schemas.openxmlformats.org/drawingml/2006/main" l="16092" t="0" r="1609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0" y="3733800"/>
            <a:ext cx="2457450" cy="2038350"/>
          </a:xfrm>
          <a:prstGeom xmlns:a="http://schemas.openxmlformats.org/drawingml/2006/main" prst="rect">
            <a:avLst/>
          </a:prstGeom>
        </p:spPr>
      </p:pic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f20bbc89e94578"/>
          <a:srcRect xmlns:a="http://schemas.openxmlformats.org/drawingml/2006/main" l="16360" t="0" r="1636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500" y="2857500"/>
            <a:ext cx="3486150" cy="29146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966F3A-037A-41F9-A7E8-3017FA6A3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F9F6B9-289A-4988-8AA0-1256CCD73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94360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FFFFFF">
                    <a:alpha val="69020"/>
                  </a:srgbClr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FFFFFF">
                    <a:alpha val="69020"/>
                  </a:srgbClr>
                </a:solidFill>
                <a:latin typeface="Courier New"/>
                <a:ea typeface="Courier New"/>
                <a:cs typeface="Courier New"/>
              </a:rPr>
              <a:t>live / brand / aftermovie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647119-8D00-4B6A-82E1-E56FC1AFE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FFFFF">
                    <a:alpha val="60000"/>
                  </a:srgbClr>
                </a:solidFill>
                <a:latin typeface="Courier New"/>
                <a:ea typeface="Courier New"/>
                <a:cs typeface="Courier New"/>
              </a:defRPr>
            </a:pPr>
            <a:r>
              <a:rPr sz="750" b="0">
                <a:solidFill>
                  <a:srgbClr val="FFFFFF">
                    <a:alpha val="60000"/>
                  </a:srgbClr>
                </a:solidFill>
                <a:latin typeface="Courier New"/>
                <a:ea typeface="Courier New"/>
                <a:cs typeface="Courier New"/>
              </a:rPr>
              <a:t>SOURCE: SITE PHOTO + WORK ASSETS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BB7E03-DB65-4A56-92DE-042C3A035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3890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FFFFFF">
                    <a:alpha val="60000"/>
                  </a:srgbClr>
                </a:solidFill>
                <a:latin typeface="Courier New"/>
                <a:ea typeface="Courier New"/>
                <a:cs typeface="Courier New"/>
              </a:defRPr>
            </a:pPr>
            <a:r>
              <a:rPr sz="750" b="0">
                <a:solidFill>
                  <a:srgbClr val="FFFFFF">
                    <a:alpha val="60000"/>
                  </a:srgbClr>
                </a:solidFill>
                <a:latin typeface="Courier New"/>
                <a:ea typeface="Courier New"/>
                <a:cs typeface="Courier New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2610297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0E138DC-F8E8-43C7-9701-84E567B95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9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4-marker">
            <a:extLst xmlns:a="http://schemas.openxmlformats.org/drawingml/2006/main">
              <a:ext uri="{FF2B5EF4-FFF2-40B4-BE49-F238E27FC236}">
                <a16:creationId xmlns:a16="http://schemas.microsoft.com/office/drawing/2014/main" id="{344610C3-A9A0-4BA5-A197-142CC951B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4C29"/>
          </a:solidFill>
          <a:ln xmlns:a="http://schemas.openxmlformats.org/drawingml/2006/main" w="0">
            <a:solidFill>
              <a:srgbClr val="F84C29"/>
            </a:solidFill>
            <a:prstDash val="solid"/>
          </a:ln>
        </p:spPr>
      </p:sp>
      <p:sp>
        <p:nvSpPr>
          <p:cNvPr id="3" name="kicker-4-label">
            <a:extLst xmlns:a="http://schemas.openxmlformats.org/drawingml/2006/main">
              <a:ext uri="{FF2B5EF4-FFF2-40B4-BE49-F238E27FC236}">
                <a16:creationId xmlns:a16="http://schemas.microsoft.com/office/drawing/2014/main" id="{625B06B2-ED78-4434-9A07-99801FC85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9100"/>
            <a:ext cx="3143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C0C0C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0C0C0C"/>
                </a:solidFill>
                <a:latin typeface="Courier New"/>
                <a:ea typeface="Courier New"/>
                <a:cs typeface="Courier New"/>
              </a:rPr>
              <a:t>OFFER 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2426B2-CE87-4664-865E-8BD82245F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239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0C0C0C"/>
                </a:solidFill>
                <a:latin typeface="MonumentExtended"/>
                <a:ea typeface="MonumentExtended"/>
                <a:cs typeface="MonumentExtended"/>
              </a:defRPr>
            </a:pPr>
            <a:r>
              <a:rPr sz="2925" b="0">
                <a:solidFill>
                  <a:srgbClr val="0C0C0C"/>
                </a:solidFill>
                <a:latin typeface="MonumentExtended"/>
                <a:ea typeface="MonumentExtended"/>
                <a:cs typeface="MonumentExtended"/>
              </a:rPr>
              <a:t>Three production modes keep the brand easy to buy.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0e499eb36d43d7"/>
          <a:srcRect xmlns:a="http://schemas.openxmlformats.org/drawingml/2006/main" l="0" t="1087" r="0" b="10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48650" y="0"/>
            <a:ext cx="3943350" cy="6858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47A2FA-5432-406A-BE18-3E2D274D1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0"/>
            <a:ext cx="419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4000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1682EF-69EC-4654-92A0-7CE2C812B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05050"/>
            <a:ext cx="533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84C29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F84C29"/>
                </a:solidFill>
                <a:latin typeface="Courier New"/>
                <a:ea typeface="Courier New"/>
                <a:cs typeface="Courier New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E13752-7E31-4D40-B2AA-00BACCD4F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81250"/>
            <a:ext cx="5981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C0C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062502-E914-4655-823B-CFA769AB4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514600"/>
            <a:ext cx="3657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C0C0C"/>
                </a:solidFill>
                <a:latin typeface="MonumentExtended"/>
                <a:ea typeface="MonumentExtended"/>
                <a:cs typeface="MonumentExtended"/>
              </a:defRPr>
            </a:pPr>
            <a:r>
              <a:rPr sz="1725" b="0">
                <a:solidFill>
                  <a:srgbClr val="0C0C0C"/>
                </a:solidFill>
                <a:latin typeface="MonumentExtended"/>
                <a:ea typeface="MonumentExtended"/>
                <a:cs typeface="MonumentExtended"/>
              </a:rPr>
              <a:t>Branded Content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DA5917-8F4D-4BAD-BECF-655EAFBE1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95600"/>
            <a:ext cx="5048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C0C0C"/>
                </a:solidFill>
                <a:latin typeface="Space Grotesk"/>
                <a:ea typeface="Space Grotesk"/>
                <a:cs typeface="Space Grotesk"/>
              </a:defRPr>
            </a:pPr>
            <a:r>
              <a:rPr sz="1200" b="0">
                <a:solidFill>
                  <a:srgbClr val="0C0C0C"/>
                </a:solidFill>
                <a:latin typeface="Space Grotesk"/>
                <a:ea typeface="Space Grotesk"/>
                <a:cs typeface="Space Grotesk"/>
              </a:rPr>
              <a:t>On-brand visuals that capture identity and connect across every platform.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9DAD61-6D05-4B4B-936C-10F281DE2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86150"/>
            <a:ext cx="533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84C29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F84C29"/>
                </a:solidFill>
                <a:latin typeface="Courier New"/>
                <a:ea typeface="Courier New"/>
                <a:cs typeface="Courier New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17BE3E-E44E-4DCA-AF29-BCA1326F9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562350"/>
            <a:ext cx="5981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C0C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F55AB4-975A-466E-9640-663D5F408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695700"/>
            <a:ext cx="3657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C0C0C"/>
                </a:solidFill>
                <a:latin typeface="MonumentExtended"/>
                <a:ea typeface="MonumentExtended"/>
                <a:cs typeface="MonumentExtended"/>
              </a:defRPr>
            </a:pPr>
            <a:r>
              <a:rPr sz="1725" b="0">
                <a:solidFill>
                  <a:srgbClr val="0C0C0C"/>
                </a:solidFill>
                <a:latin typeface="MonumentExtended"/>
                <a:ea typeface="MonumentExtended"/>
                <a:cs typeface="MonumentExtended"/>
              </a:rPr>
              <a:t>Full Performance Coverage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2BF5CC-CAE5-4660-9590-DF03C25A8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076700"/>
            <a:ext cx="5048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C0C0C"/>
                </a:solidFill>
                <a:latin typeface="Space Grotesk"/>
                <a:ea typeface="Space Grotesk"/>
                <a:cs typeface="Space Grotesk"/>
              </a:defRPr>
            </a:pPr>
            <a:r>
              <a:rPr sz="1200" b="0">
                <a:solidFill>
                  <a:srgbClr val="0C0C0C"/>
                </a:solidFill>
                <a:latin typeface="Space Grotesk"/>
                <a:ea typeface="Space Grotesk"/>
                <a:cs typeface="Space Grotesk"/>
              </a:rPr>
              <a:t>Stage-to-crowd capture with cinematic precision and no missed beats.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F3E5DC-5CD7-44B5-BD68-F93660CC8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533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84C29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F84C29"/>
                </a:solidFill>
                <a:latin typeface="Courier New"/>
                <a:ea typeface="Courier New"/>
                <a:cs typeface="Courier New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0AECC9-138C-423B-8F3E-5D998C9AA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743450"/>
            <a:ext cx="5981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C0C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0DBC6C-8920-4D70-887D-1F9229F71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876800"/>
            <a:ext cx="3657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C0C0C"/>
                </a:solidFill>
                <a:latin typeface="MonumentExtended"/>
                <a:ea typeface="MonumentExtended"/>
                <a:cs typeface="MonumentExtended"/>
              </a:defRPr>
            </a:pPr>
            <a:r>
              <a:rPr sz="1725" b="0">
                <a:solidFill>
                  <a:srgbClr val="0C0C0C"/>
                </a:solidFill>
                <a:latin typeface="MonumentExtended"/>
                <a:ea typeface="MonumentExtended"/>
                <a:cs typeface="MonumentExtended"/>
              </a:rPr>
              <a:t>After-Movie Duties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9621C2-A67B-4460-B0E0-89A427182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257800"/>
            <a:ext cx="5048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C0C0C"/>
                </a:solidFill>
                <a:latin typeface="Space Grotesk"/>
                <a:ea typeface="Space Grotesk"/>
                <a:cs typeface="Space Grotesk"/>
              </a:defRPr>
            </a:pPr>
            <a:r>
              <a:rPr sz="1200" b="0">
                <a:solidFill>
                  <a:srgbClr val="0C0C0C"/>
                </a:solidFill>
                <a:latin typeface="Space Grotesk"/>
                <a:ea typeface="Space Grotesk"/>
                <a:cs typeface="Space Grotesk"/>
              </a:rPr>
              <a:t>Fast, loud edits that turn events into shareable highlight reels.</a:t>
            </a:r>
          </a:p>
        </p:txBody>
      </p:sp>
      <p:sp>
        <p:nvSpPr>
          <p:cNvPr id="19" name="rule">
            <a:extLst xmlns:a="http://schemas.openxmlformats.org/drawingml/2006/main">
              <a:ext uri="{FF2B5EF4-FFF2-40B4-BE49-F238E27FC236}">
                <a16:creationId xmlns:a16="http://schemas.microsoft.com/office/drawing/2014/main" id="{5BCBA2C3-C9EA-4290-A71D-F126FB536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638800"/>
            <a:ext cx="1638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4C29"/>
          </a:solidFill>
          <a:ln xmlns:a="http://schemas.openxmlformats.org/drawingml/2006/main" w="0">
            <a:solidFill>
              <a:srgbClr val="F84C2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B21ED4-1576-43DF-BE27-8C197D8B8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905500"/>
            <a:ext cx="266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BUILT FOR MOMENTS THAT MOVE FAST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CD27D3-9AD9-48BD-ACB4-F423BA7AA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0C0C0C">
                    <a:alpha val="60000"/>
                  </a:srgbClr>
                </a:solidFill>
                <a:latin typeface="Courier New"/>
                <a:ea typeface="Courier New"/>
                <a:cs typeface="Courier New"/>
              </a:defRPr>
            </a:pPr>
            <a:r>
              <a:rPr sz="750" b="0">
                <a:solidFill>
                  <a:srgbClr val="0C0C0C">
                    <a:alpha val="60000"/>
                  </a:srgbClr>
                </a:solidFill>
                <a:latin typeface="Courier New"/>
                <a:ea typeface="Courier New"/>
                <a:cs typeface="Courier New"/>
              </a:rPr>
              <a:t>SOURCE: INDEX.HTML SERVICES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831B2B-02EC-413E-AA9B-766F7C156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3890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0C0C0C">
                    <a:alpha val="60000"/>
                  </a:srgbClr>
                </a:solidFill>
                <a:latin typeface="Courier New"/>
                <a:ea typeface="Courier New"/>
                <a:cs typeface="Courier New"/>
              </a:defRPr>
            </a:pPr>
            <a:r>
              <a:rPr sz="750" b="0">
                <a:solidFill>
                  <a:srgbClr val="0C0C0C">
                    <a:alpha val="60000"/>
                  </a:srgbClr>
                </a:solidFill>
                <a:latin typeface="Courier New"/>
                <a:ea typeface="Courier New"/>
                <a:cs typeface="Courier New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6423871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BFFE08D-1301-4CF2-91E7-82D6712CB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C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5-marker">
            <a:extLst xmlns:a="http://schemas.openxmlformats.org/drawingml/2006/main">
              <a:ext uri="{FF2B5EF4-FFF2-40B4-BE49-F238E27FC236}">
                <a16:creationId xmlns:a16="http://schemas.microsoft.com/office/drawing/2014/main" id="{97E9461F-3274-4647-BAAA-638A31A15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4C29"/>
          </a:solidFill>
          <a:ln xmlns:a="http://schemas.openxmlformats.org/drawingml/2006/main" w="0">
            <a:solidFill>
              <a:srgbClr val="F84C29"/>
            </a:solidFill>
            <a:prstDash val="solid"/>
          </a:ln>
        </p:spPr>
      </p:sp>
      <p:sp>
        <p:nvSpPr>
          <p:cNvPr id="3" name="kicker-5-label">
            <a:extLst xmlns:a="http://schemas.openxmlformats.org/drawingml/2006/main">
              <a:ext uri="{FF2B5EF4-FFF2-40B4-BE49-F238E27FC236}">
                <a16:creationId xmlns:a16="http://schemas.microsoft.com/office/drawing/2014/main" id="{B7377A61-CB56-4EA8-A1E4-AAED8B9CC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9100"/>
            <a:ext cx="3143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FEATURED WORK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3B8A91-D8A0-4002-BBDB-6F68BE44A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143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FFFFFF"/>
                </a:solidFill>
                <a:latin typeface="MonumentExtended"/>
                <a:ea typeface="MonumentExtended"/>
                <a:cs typeface="MonumentExtended"/>
              </a:defRPr>
            </a:pPr>
            <a:r>
              <a:rPr sz="2850" b="0">
                <a:solidFill>
                  <a:srgbClr val="FFFFFF"/>
                </a:solidFill>
                <a:latin typeface="MonumentExtended"/>
                <a:ea typeface="MonumentExtended"/>
                <a:cs typeface="MonumentExtended"/>
              </a:rPr>
              <a:t>Range is the proof: venue, festival, full set, social clip.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D4D14C-F367-4831-9A95-9550AAED2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47850"/>
            <a:ext cx="533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EDBD2"/>
                </a:solidFill>
                <a:latin typeface="Space Grotesk"/>
                <a:ea typeface="Space Grotesk"/>
                <a:cs typeface="Space Grotesk"/>
              </a:defRPr>
            </a:pPr>
            <a:r>
              <a:rPr sz="1275" b="0">
                <a:solidFill>
                  <a:srgbClr val="DEDBD2"/>
                </a:solidFill>
                <a:latin typeface="Space Grotesk"/>
                <a:ea typeface="Space Grotesk"/>
                <a:cs typeface="Space Grotesk"/>
              </a:rPr>
              <a:t>The site portfolio should feel like a live catalog, not a case-study archive. Large crops and spare labels make the work the main argument.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7F6930-0EEE-4054-9C85-BEF62CC1C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2476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54902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AC7A3B-8665-4315-9FA8-2C741466A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2920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L'IMPERATRICE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A96C44-C636-4FE9-AFCE-38FE1F5F6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38750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84C29"/>
                </a:solidFill>
                <a:latin typeface="Courier New"/>
                <a:ea typeface="Courier New"/>
                <a:cs typeface="Courier New"/>
              </a:defRPr>
            </a:pPr>
            <a:r>
              <a:rPr sz="675" b="0">
                <a:solidFill>
                  <a:srgbClr val="F84C29"/>
                </a:solidFill>
                <a:latin typeface="Courier New"/>
                <a:ea typeface="Courier New"/>
                <a:cs typeface="Courier New"/>
              </a:rPr>
              <a:t>ARAGON BALLROOM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66375C-A7E2-4BF5-8138-3563A4FE1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495800"/>
            <a:ext cx="2476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54902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85A1C1-78E3-4EAE-AE73-ED42FF11D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6291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ZEDS DEAD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18933A-4400-4054-A394-B4ED0F0AA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838700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84C29"/>
                </a:solidFill>
                <a:latin typeface="Courier New"/>
                <a:ea typeface="Courier New"/>
                <a:cs typeface="Courier New"/>
              </a:defRPr>
            </a:pPr>
            <a:r>
              <a:rPr sz="675" b="0">
                <a:solidFill>
                  <a:srgbClr val="F84C29"/>
                </a:solidFill>
                <a:latin typeface="Courier New"/>
                <a:ea typeface="Courier New"/>
                <a:cs typeface="Courier New"/>
              </a:rPr>
              <a:t>HULAWEEN / FULL SET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482763-EF70-4BE4-A7AD-87A83B32F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895850"/>
            <a:ext cx="2476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54902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EDC047-C367-42A5-B70F-681D40D3D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02920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LSDREAM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CA32A6-BBB4-45FE-9FA1-29D72B3DD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238750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84C29"/>
                </a:solidFill>
                <a:latin typeface="Courier New"/>
                <a:ea typeface="Courier New"/>
                <a:cs typeface="Courier New"/>
              </a:defRPr>
            </a:pPr>
            <a:r>
              <a:rPr sz="675" b="0">
                <a:solidFill>
                  <a:srgbClr val="F84C29"/>
                </a:solidFill>
                <a:latin typeface="Courier New"/>
                <a:ea typeface="Courier New"/>
                <a:cs typeface="Courier New"/>
              </a:rPr>
              <a:t>NEW YEAR'S EVE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5595FD-94D9-4EB4-9A48-BD960FF9A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495800"/>
            <a:ext cx="2476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54902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70A229-43AE-408F-9985-CDF02C8B1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6291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NICOLE MOUDABER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E49AD0-EC0F-4B25-980B-7736E0F9F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838700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84C29"/>
                </a:solidFill>
                <a:latin typeface="Courier New"/>
                <a:ea typeface="Courier New"/>
                <a:cs typeface="Courier New"/>
              </a:defRPr>
            </a:pPr>
            <a:r>
              <a:rPr sz="675" b="0">
                <a:solidFill>
                  <a:srgbClr val="F84C29"/>
                </a:solidFill>
                <a:latin typeface="Courier New"/>
                <a:ea typeface="Courier New"/>
                <a:cs typeface="Courier New"/>
              </a:rPr>
              <a:t>ARC CHICAGO / FULL SET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60E110-855F-48E7-995C-998CD4D10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FFFFF">
                    <a:alpha val="60000"/>
                  </a:srgbClr>
                </a:solidFill>
                <a:latin typeface="Courier New"/>
                <a:ea typeface="Courier New"/>
                <a:cs typeface="Courier New"/>
              </a:defRPr>
            </a:pPr>
            <a:r>
              <a:rPr sz="750" b="0">
                <a:solidFill>
                  <a:srgbClr val="FFFFFF">
                    <a:alpha val="60000"/>
                  </a:srgbClr>
                </a:solidFill>
                <a:latin typeface="Courier New"/>
                <a:ea typeface="Courier New"/>
                <a:cs typeface="Courier New"/>
              </a:rPr>
              <a:t>SOURCE: INDEX.HTML FEATURED WORK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581270-54B7-4B5E-AEAD-1FBCA4B67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3890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FFFFFF">
                    <a:alpha val="60000"/>
                  </a:srgbClr>
                </a:solidFill>
                <a:latin typeface="Courier New"/>
                <a:ea typeface="Courier New"/>
                <a:cs typeface="Courier New"/>
              </a:defRPr>
            </a:pPr>
            <a:r>
              <a:rPr sz="750" b="0">
                <a:solidFill>
                  <a:srgbClr val="FFFFFF">
                    <a:alpha val="60000"/>
                  </a:srgbClr>
                </a:solidFill>
                <a:latin typeface="Courier New"/>
                <a:ea typeface="Courier New"/>
                <a:cs typeface="Courier New"/>
              </a:rPr>
              <a:t>05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26b794e98a474e"/>
          <a:srcRect xmlns:a="http://schemas.openxmlformats.org/drawingml/2006/main" l="0" t="20793" r="0" b="207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2971800"/>
            <a:ext cx="2476500" cy="2571750"/>
          </a:xfrm>
          <a:prstGeom xmlns:a="http://schemas.openxmlformats.org/drawingml/2006/main" prst="rect">
            <a:avLst/>
          </a:prstGeom>
        </p:spPr>
      </p:pic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e99c49879d437a"/>
          <a:srcRect xmlns:a="http://schemas.openxmlformats.org/drawingml/2006/main" l="22917" t="0" r="2291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48050" y="2571750"/>
            <a:ext cx="2476500" cy="2571750"/>
          </a:xfrm>
          <a:prstGeom xmlns:a="http://schemas.openxmlformats.org/drawingml/2006/main" prst="rect">
            <a:avLst/>
          </a:prstGeom>
        </p:spPr>
      </p:pic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cef28be0a14ce4"/>
          <a:srcRect xmlns:a="http://schemas.openxmlformats.org/drawingml/2006/main" l="22917" t="0" r="2291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24950" y="2571750"/>
            <a:ext cx="2476500" cy="2571750"/>
          </a:xfrm>
          <a:prstGeom xmlns:a="http://schemas.openxmlformats.org/drawingml/2006/main" prst="rect">
            <a:avLst/>
          </a:prstGeom>
        </p:spPr>
      </p:pic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bcb1a9c1504ef5"/>
          <a:srcRect xmlns:a="http://schemas.openxmlformats.org/drawingml/2006/main" l="24296" t="0" r="2429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0" y="2971800"/>
            <a:ext cx="2476500" cy="2571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90831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CE39AE4-7CA0-4EF2-83BA-B4549E903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9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6-marker">
            <a:extLst xmlns:a="http://schemas.openxmlformats.org/drawingml/2006/main">
              <a:ext uri="{FF2B5EF4-FFF2-40B4-BE49-F238E27FC236}">
                <a16:creationId xmlns:a16="http://schemas.microsoft.com/office/drawing/2014/main" id="{7586CDF0-111A-4C2A-93DA-C21DAF972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4C29"/>
          </a:solidFill>
          <a:ln xmlns:a="http://schemas.openxmlformats.org/drawingml/2006/main" w="0">
            <a:solidFill>
              <a:srgbClr val="F84C29"/>
            </a:solidFill>
            <a:prstDash val="solid"/>
          </a:ln>
        </p:spPr>
      </p:sp>
      <p:sp>
        <p:nvSpPr>
          <p:cNvPr id="3" name="kicker-6-label">
            <a:extLst xmlns:a="http://schemas.openxmlformats.org/drawingml/2006/main">
              <a:ext uri="{FF2B5EF4-FFF2-40B4-BE49-F238E27FC236}">
                <a16:creationId xmlns:a16="http://schemas.microsoft.com/office/drawing/2014/main" id="{84280BB6-0D56-438D-BCAF-F4DDAC100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9100"/>
            <a:ext cx="3143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C0C0C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0C0C0C"/>
                </a:solidFill>
                <a:latin typeface="Courier New"/>
                <a:ea typeface="Courier New"/>
                <a:cs typeface="Courier New"/>
              </a:rPr>
              <a:t>CONTENT 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C04767-0FED-476E-882F-94B11C511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6667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0C0C0C"/>
                </a:solidFill>
                <a:latin typeface="MonumentExtended"/>
                <a:ea typeface="MonumentExtended"/>
                <a:cs typeface="MonumentExtended"/>
              </a:defRPr>
            </a:pPr>
            <a:r>
              <a:rPr sz="2925" b="0">
                <a:solidFill>
                  <a:srgbClr val="0C0C0C"/>
                </a:solidFill>
                <a:latin typeface="MonumentExtended"/>
                <a:ea typeface="MonumentExtended"/>
                <a:cs typeface="MonumentExtended"/>
              </a:rPr>
              <a:t>Every shoot should leave with a content ecosystem.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2EFDA8-9A78-4A19-9055-A3CD9ECBC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66900"/>
            <a:ext cx="5715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C0C0C"/>
                </a:solidFill>
                <a:latin typeface="Space Grotesk"/>
                <a:ea typeface="Space Grotesk"/>
                <a:cs typeface="Space Grotesk"/>
              </a:defRPr>
            </a:pPr>
            <a:r>
              <a:rPr sz="1350" b="0">
                <a:solidFill>
                  <a:srgbClr val="0C0C0C"/>
                </a:solidFill>
                <a:latin typeface="Space Grotesk"/>
                <a:ea typeface="Space Grotesk"/>
                <a:cs typeface="Space Grotesk"/>
              </a:rPr>
              <a:t>The brand promise gets stronger when each production is planned as a package: anchor film, platform cuts, stills, and fast social proof.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a697b2fe654a2d"/>
          <a:srcRect xmlns:a="http://schemas.openxmlformats.org/drawingml/2006/main" l="29831" t="0" r="2983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00950" y="666750"/>
            <a:ext cx="3429000" cy="47815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1DA46E-69FD-4F5F-8453-7923165B4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990600"/>
            <a:ext cx="9525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C0C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FAD01C-C7CA-4A3E-97C1-2C1CC2545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527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84C29"/>
                </a:solidFill>
                <a:latin typeface="Courier New"/>
                <a:ea typeface="Courier New"/>
                <a:cs typeface="Courier New"/>
              </a:defRPr>
            </a:pPr>
            <a:r>
              <a:rPr sz="825" b="0">
                <a:solidFill>
                  <a:srgbClr val="F84C29"/>
                </a:solidFill>
                <a:latin typeface="Courier New"/>
                <a:ea typeface="Courier New"/>
                <a:cs typeface="Courier New"/>
              </a:rPr>
              <a:t>ANCHOR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6A30DF-08E4-4D8E-A014-9AB49AA2B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038475"/>
            <a:ext cx="320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6767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CA8C3D-4C33-4592-8E24-65E380BB3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91465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C0C0C"/>
                </a:solidFill>
                <a:latin typeface="Space Grotesk"/>
                <a:ea typeface="Space Grotesk"/>
                <a:cs typeface="Space Grotesk"/>
              </a:defRPr>
            </a:pPr>
            <a:r>
              <a:rPr sz="1050" b="0">
                <a:solidFill>
                  <a:srgbClr val="0C0C0C"/>
                </a:solidFill>
                <a:latin typeface="Space Grotesk"/>
                <a:ea typeface="Space Grotesk"/>
                <a:cs typeface="Space Grotesk"/>
              </a:rPr>
              <a:t>Hero recap, music video, or full-set capture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0A1B55-9179-44A8-B26E-351E59016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84C29"/>
                </a:solidFill>
                <a:latin typeface="Courier New"/>
                <a:ea typeface="Courier New"/>
                <a:cs typeface="Courier New"/>
              </a:defRPr>
            </a:pPr>
            <a:r>
              <a:rPr sz="825" b="0">
                <a:solidFill>
                  <a:srgbClr val="F84C29"/>
                </a:solidFill>
                <a:latin typeface="Courier New"/>
                <a:ea typeface="Courier New"/>
                <a:cs typeface="Courier New"/>
              </a:rPr>
              <a:t>CUTDOWNS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312AD3-F82D-4CFD-9932-C04659BF6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705225"/>
            <a:ext cx="320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6767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AB0F1D-0CAB-46C4-9CFE-276FCAECB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58140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C0C0C"/>
                </a:solidFill>
                <a:latin typeface="Space Grotesk"/>
                <a:ea typeface="Space Grotesk"/>
                <a:cs typeface="Space Grotesk"/>
              </a:defRPr>
            </a:pPr>
            <a:r>
              <a:rPr sz="1050" b="0">
                <a:solidFill>
                  <a:srgbClr val="0C0C0C"/>
                </a:solidFill>
                <a:latin typeface="Space Grotesk"/>
                <a:ea typeface="Space Grotesk"/>
                <a:cs typeface="Space Grotesk"/>
              </a:rPr>
              <a:t>9:16 and 1:1 social edits built for speed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73C71F-C370-4DEF-B984-1EB6CA6CA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862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84C29"/>
                </a:solidFill>
                <a:latin typeface="Courier New"/>
                <a:ea typeface="Courier New"/>
                <a:cs typeface="Courier New"/>
              </a:defRPr>
            </a:pPr>
            <a:r>
              <a:rPr sz="825" b="0">
                <a:solidFill>
                  <a:srgbClr val="F84C29"/>
                </a:solidFill>
                <a:latin typeface="Courier New"/>
                <a:ea typeface="Courier New"/>
                <a:cs typeface="Courier New"/>
              </a:rPr>
              <a:t>STILLS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0B1BAF-CB31-4B27-A697-A5B18BF4C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371975"/>
            <a:ext cx="320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6767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7526BB-15C1-4915-AFDC-84E3D2D61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24815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C0C0C"/>
                </a:solidFill>
                <a:latin typeface="Space Grotesk"/>
                <a:ea typeface="Space Grotesk"/>
                <a:cs typeface="Space Grotesk"/>
              </a:defRPr>
            </a:pPr>
            <a:r>
              <a:rPr sz="1050" b="0">
                <a:solidFill>
                  <a:srgbClr val="0C0C0C"/>
                </a:solidFill>
                <a:latin typeface="Space Grotesk"/>
                <a:ea typeface="Space Grotesk"/>
                <a:cs typeface="Space Grotesk"/>
              </a:rPr>
              <a:t>Press-ready event and campaign images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9CF8A8-7D04-4A17-9D7D-C30211F3A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84C29"/>
                </a:solidFill>
                <a:latin typeface="Courier New"/>
                <a:ea typeface="Courier New"/>
                <a:cs typeface="Courier New"/>
              </a:defRPr>
            </a:pPr>
            <a:r>
              <a:rPr sz="825" b="0">
                <a:solidFill>
                  <a:srgbClr val="F84C29"/>
                </a:solidFill>
                <a:latin typeface="Courier New"/>
                <a:ea typeface="Courier New"/>
                <a:cs typeface="Courier New"/>
              </a:rPr>
              <a:t>MOMENTS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C4CA01-56F1-4BBA-9C86-490EA27DE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038725"/>
            <a:ext cx="320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6767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DF8D56-FE78-4810-995E-339AE06BD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91490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C0C0C"/>
                </a:solidFill>
                <a:latin typeface="Space Grotesk"/>
                <a:ea typeface="Space Grotesk"/>
                <a:cs typeface="Space Grotesk"/>
              </a:defRPr>
            </a:pPr>
            <a:r>
              <a:rPr sz="1050" b="0">
                <a:solidFill>
                  <a:srgbClr val="0C0C0C"/>
                </a:solidFill>
                <a:latin typeface="Space Grotesk"/>
                <a:ea typeface="Space Grotesk"/>
                <a:cs typeface="Space Grotesk"/>
              </a:rPr>
              <a:t>Short clips that preserve FOMO and crowd energy</a:t>
            </a:r>
          </a:p>
        </p:txBody>
      </p:sp>
      <p:sp>
        <p:nvSpPr>
          <p:cNvPr id="20" name="rule">
            <a:extLst xmlns:a="http://schemas.openxmlformats.org/drawingml/2006/main">
              <a:ext uri="{FF2B5EF4-FFF2-40B4-BE49-F238E27FC236}">
                <a16:creationId xmlns:a16="http://schemas.microsoft.com/office/drawing/2014/main" id="{B330A2A4-7D65-4BD2-95D8-F8B455558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619750"/>
            <a:ext cx="3429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4C29"/>
          </a:solidFill>
          <a:ln xmlns:a="http://schemas.openxmlformats.org/drawingml/2006/main" w="0">
            <a:solidFill>
              <a:srgbClr val="F84C2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753B64-6ABC-4F40-8A02-2A32F90D2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829300"/>
            <a:ext cx="3429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C0C0C"/>
                </a:solidFill>
                <a:latin typeface="Space Grotesk"/>
                <a:ea typeface="Space Grotesk"/>
                <a:cs typeface="Space Grotesk"/>
              </a:defRPr>
            </a:pPr>
            <a:r>
              <a:rPr sz="1275" b="0">
                <a:solidFill>
                  <a:srgbClr val="0C0C0C"/>
                </a:solidFill>
                <a:latin typeface="Space Grotesk"/>
                <a:ea typeface="Space Grotesk"/>
                <a:cs typeface="Space Grotesk"/>
              </a:rPr>
              <a:t>A shoot becomes a system when the edit plan is designed before the lights go down.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2E18EA-8A1E-4B90-8D9E-294222F62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0C0C0C">
                    <a:alpha val="60000"/>
                  </a:srgbClr>
                </a:solidFill>
                <a:latin typeface="Courier New"/>
                <a:ea typeface="Courier New"/>
                <a:cs typeface="Courier New"/>
              </a:defRPr>
            </a:pPr>
            <a:r>
              <a:rPr sz="750" b="0">
                <a:solidFill>
                  <a:srgbClr val="0C0C0C">
                    <a:alpha val="60000"/>
                  </a:srgbClr>
                </a:solidFill>
                <a:latin typeface="Courier New"/>
                <a:ea typeface="Courier New"/>
                <a:cs typeface="Courier New"/>
              </a:rPr>
              <a:t>SOURCE: SITE SERVICE LANGUAGE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A19C8D-EFB1-4837-B776-6A2FB344C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3890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0C0C0C">
                    <a:alpha val="60000"/>
                  </a:srgbClr>
                </a:solidFill>
                <a:latin typeface="Courier New"/>
                <a:ea typeface="Courier New"/>
                <a:cs typeface="Courier New"/>
              </a:defRPr>
            </a:pPr>
            <a:r>
              <a:rPr sz="750" b="0">
                <a:solidFill>
                  <a:srgbClr val="0C0C0C">
                    <a:alpha val="60000"/>
                  </a:srgbClr>
                </a:solidFill>
                <a:latin typeface="Courier New"/>
                <a:ea typeface="Courier New"/>
                <a:cs typeface="Courier New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6780540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833C21E-8ECF-4EBA-BE81-CC0CF74E4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C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6dfe83a7024a53"/>
          <a:srcRect xmlns:a="http://schemas.openxmlformats.org/drawingml/2006/main" l="33281" t="0" r="3328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40767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3B40C6-56A6-4D42-AD2A-903891F72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7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30196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7-marker">
            <a:extLst xmlns:a="http://schemas.openxmlformats.org/drawingml/2006/main">
              <a:ext uri="{FF2B5EF4-FFF2-40B4-BE49-F238E27FC236}">
                <a16:creationId xmlns:a16="http://schemas.microsoft.com/office/drawing/2014/main" id="{B89BEDE6-AD2E-4108-969D-F169C9A95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4C29"/>
          </a:solidFill>
          <a:ln xmlns:a="http://schemas.openxmlformats.org/drawingml/2006/main" w="0">
            <a:solidFill>
              <a:srgbClr val="F84C29"/>
            </a:solidFill>
            <a:prstDash val="solid"/>
          </a:ln>
        </p:spPr>
      </p:sp>
      <p:sp>
        <p:nvSpPr>
          <p:cNvPr id="5" name="kicker-7-label">
            <a:extLst xmlns:a="http://schemas.openxmlformats.org/drawingml/2006/main">
              <a:ext uri="{FF2B5EF4-FFF2-40B4-BE49-F238E27FC236}">
                <a16:creationId xmlns:a16="http://schemas.microsoft.com/office/drawing/2014/main" id="{E9094FB5-F143-4439-929E-5B2BE19FA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19100"/>
            <a:ext cx="3143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WORKFLOW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BA0962-1014-4F16-8989-078986630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876300"/>
            <a:ext cx="6191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FFFFFF"/>
                </a:solidFill>
                <a:latin typeface="MonumentExtended"/>
                <a:ea typeface="MonumentExtended"/>
                <a:cs typeface="MonumentExtended"/>
              </a:defRPr>
            </a:pPr>
            <a:r>
              <a:rPr sz="2925" b="0">
                <a:solidFill>
                  <a:srgbClr val="FFFFFF"/>
                </a:solidFill>
                <a:latin typeface="MonumentExtended"/>
                <a:ea typeface="MonumentExtended"/>
                <a:cs typeface="MonumentExtended"/>
              </a:rPr>
              <a:t>Fast delivery works when the decisions are made early.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ED1483-D591-4C14-9D3F-EB320253C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943100"/>
            <a:ext cx="5334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EDBD2"/>
                </a:solidFill>
                <a:latin typeface="Space Grotesk"/>
                <a:ea typeface="Space Grotesk"/>
                <a:cs typeface="Space Grotesk"/>
              </a:defRPr>
            </a:pPr>
            <a:r>
              <a:rPr sz="1350" b="0">
                <a:solidFill>
                  <a:srgbClr val="DEDBD2"/>
                </a:solidFill>
                <a:latin typeface="Space Grotesk"/>
                <a:ea typeface="Space Grotesk"/>
                <a:cs typeface="Space Grotesk"/>
              </a:rPr>
              <a:t>Obskura's operating story is simple: understand the brand, capture the whole environment, and move quickly while the moment is still culturally warm.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3CCC35-40C2-4433-95C9-2658C7EF5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429000"/>
            <a:ext cx="8763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9525">
            <a:solidFill>
              <a:srgbClr val="FFFFFF">
                <a:alpha val="14902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783E26-52DC-49B5-B4B6-004BA4820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623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4C29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F84C29"/>
                </a:solidFill>
                <a:latin typeface="Courier New"/>
                <a:ea typeface="Courier New"/>
                <a:cs typeface="Courier New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1013A5-9E57-41FA-BB9D-B6BD1EB20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88620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975" b="0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Brief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5D67E6-513E-4F32-98B3-439DA7798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514850"/>
            <a:ext cx="10858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DEDBD2"/>
                </a:solidFill>
                <a:latin typeface="Courier New"/>
                <a:ea typeface="Courier New"/>
                <a:cs typeface="Courier New"/>
              </a:defRPr>
            </a:pPr>
            <a:r>
              <a:rPr sz="825" b="0">
                <a:solidFill>
                  <a:srgbClr val="DEDBD2"/>
                </a:solidFill>
                <a:latin typeface="Courier New"/>
                <a:ea typeface="Courier New"/>
                <a:cs typeface="Courier New"/>
              </a:rPr>
              <a:t>Brand, audience, event, deliverables</a:t>
            </a:r>
          </a:p>
        </p:txBody>
      </p:sp>
      <p:sp>
        <p:nvSpPr>
          <p:cNvPr id="12" name="rule">
            <a:extLst xmlns:a="http://schemas.openxmlformats.org/drawingml/2006/main">
              <a:ext uri="{FF2B5EF4-FFF2-40B4-BE49-F238E27FC236}">
                <a16:creationId xmlns:a16="http://schemas.microsoft.com/office/drawing/2014/main" id="{0BFCBB4E-8217-4A4F-BD9C-C1B93D58A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867150"/>
            <a:ext cx="457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3"/>
            </a:srgbClr>
          </a:solidFill>
          <a:ln xmlns:a="http://schemas.openxmlformats.org/drawingml/2006/main" w="0">
            <a:solidFill>
              <a:srgbClr val="FFFFFF">
                <a:alpha val="31373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064ADC-3A32-478A-9271-88BB77C95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429000"/>
            <a:ext cx="8763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9525">
            <a:solidFill>
              <a:srgbClr val="FFFFFF">
                <a:alpha val="14902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4CC6EE-7FFD-4A5E-9815-6BA117351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623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4C29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F84C29"/>
                </a:solidFill>
                <a:latin typeface="Courier New"/>
                <a:ea typeface="Courier New"/>
                <a:cs typeface="Courier New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00EB8B-CD4A-4625-A3B1-DFE15D3FE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8620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975" b="0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Shot logic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0F0390-54CA-45AA-9754-D80C8D8EE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514850"/>
            <a:ext cx="10858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DEDBD2"/>
                </a:solidFill>
                <a:latin typeface="Courier New"/>
                <a:ea typeface="Courier New"/>
                <a:cs typeface="Courier New"/>
              </a:defRPr>
            </a:pPr>
            <a:r>
              <a:rPr sz="825" b="0">
                <a:solidFill>
                  <a:srgbClr val="DEDBD2"/>
                </a:solidFill>
                <a:latin typeface="Courier New"/>
                <a:ea typeface="Courier New"/>
                <a:cs typeface="Courier New"/>
              </a:rPr>
              <a:t>Stage, crowd, artist, sponsor moments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863F3422-285D-46F9-9FEB-1B3357265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67150"/>
            <a:ext cx="457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4C29"/>
          </a:solidFill>
          <a:ln xmlns:a="http://schemas.openxmlformats.org/drawingml/2006/main" w="0">
            <a:solidFill>
              <a:srgbClr val="F84C2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2DDC92-7245-4253-9218-27211D094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429000"/>
            <a:ext cx="8763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4C29"/>
          </a:solidFill>
          <a:ln xmlns:a="http://schemas.openxmlformats.org/drawingml/2006/main" w="9525">
            <a:solidFill>
              <a:srgbClr val="F84C2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E56AF1-77B8-48DD-9E35-E5C07D4D8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623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C0C0C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0C0C0C"/>
                </a:solidFill>
                <a:latin typeface="Courier New"/>
                <a:ea typeface="Courier New"/>
                <a:cs typeface="Courier New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84B822-4A8F-4068-BCEB-004B29E2B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88620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C0C0C"/>
                </a:solidFill>
                <a:latin typeface="Space Grotesk"/>
                <a:ea typeface="Space Grotesk"/>
                <a:cs typeface="Space Grotesk"/>
              </a:defRPr>
            </a:pPr>
            <a:r>
              <a:rPr sz="975" b="0">
                <a:solidFill>
                  <a:srgbClr val="0C0C0C"/>
                </a:solidFill>
                <a:latin typeface="Space Grotesk"/>
                <a:ea typeface="Space Grotesk"/>
                <a:cs typeface="Space Grotesk"/>
              </a:rPr>
              <a:t>Capture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4FA8E4-65CE-413F-8D7F-57AA12B30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514850"/>
            <a:ext cx="10858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DEDBD2"/>
                </a:solidFill>
                <a:latin typeface="Courier New"/>
                <a:ea typeface="Courier New"/>
                <a:cs typeface="Courier New"/>
              </a:defRPr>
            </a:pPr>
            <a:r>
              <a:rPr sz="825" b="0">
                <a:solidFill>
                  <a:srgbClr val="DEDBD2"/>
                </a:solidFill>
                <a:latin typeface="Courier New"/>
                <a:ea typeface="Courier New"/>
                <a:cs typeface="Courier New"/>
              </a:rPr>
              <a:t>Performance-first coverage</a:t>
            </a:r>
          </a:p>
        </p:txBody>
      </p:sp>
      <p:sp>
        <p:nvSpPr>
          <p:cNvPr id="22" name="rule">
            <a:extLst xmlns:a="http://schemas.openxmlformats.org/drawingml/2006/main">
              <a:ext uri="{FF2B5EF4-FFF2-40B4-BE49-F238E27FC236}">
                <a16:creationId xmlns:a16="http://schemas.microsoft.com/office/drawing/2014/main" id="{61BCDA79-78FB-478C-B167-EFB5DA80A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867150"/>
            <a:ext cx="457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3"/>
            </a:srgbClr>
          </a:solidFill>
          <a:ln xmlns:a="http://schemas.openxmlformats.org/drawingml/2006/main" w="0">
            <a:solidFill>
              <a:srgbClr val="FFFFFF">
                <a:alpha val="31373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94ED39-6B0B-49BF-87AF-33289354B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429000"/>
            <a:ext cx="8763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9525">
            <a:solidFill>
              <a:srgbClr val="FFFFFF">
                <a:alpha val="14902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A250F8-988F-4FFB-BF19-71BC33C50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5623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4C29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F84C29"/>
                </a:solidFill>
                <a:latin typeface="Courier New"/>
                <a:ea typeface="Courier New"/>
                <a:cs typeface="Courier New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FE2166-607E-4AFD-AD9E-A1A0D5837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88620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975" b="0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Edit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02DA8A-577A-4F79-A619-DB4866592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514850"/>
            <a:ext cx="10858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DEDBD2"/>
                </a:solidFill>
                <a:latin typeface="Courier New"/>
                <a:ea typeface="Courier New"/>
                <a:cs typeface="Courier New"/>
              </a:defRPr>
            </a:pPr>
            <a:r>
              <a:rPr sz="825" b="0">
                <a:solidFill>
                  <a:srgbClr val="DEDBD2"/>
                </a:solidFill>
                <a:latin typeface="Courier New"/>
                <a:ea typeface="Courier New"/>
                <a:cs typeface="Courier New"/>
              </a:rPr>
              <a:t>Hero film plus social-ready cuts</a:t>
            </a:r>
          </a:p>
        </p:txBody>
      </p:sp>
      <p:sp>
        <p:nvSpPr>
          <p:cNvPr id="27" name="rule">
            <a:extLst xmlns:a="http://schemas.openxmlformats.org/drawingml/2006/main">
              <a:ext uri="{FF2B5EF4-FFF2-40B4-BE49-F238E27FC236}">
                <a16:creationId xmlns:a16="http://schemas.microsoft.com/office/drawing/2014/main" id="{11984E1B-CEA4-4F90-9E61-94916FEBB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867150"/>
            <a:ext cx="457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3"/>
            </a:srgbClr>
          </a:solidFill>
          <a:ln xmlns:a="http://schemas.openxmlformats.org/drawingml/2006/main" w="0">
            <a:solidFill>
              <a:srgbClr val="FFFFFF">
                <a:alpha val="31373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32D525-C1D9-4758-B080-AB4A0374F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429000"/>
            <a:ext cx="8763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9525">
            <a:solidFill>
              <a:srgbClr val="FFFFFF">
                <a:alpha val="14902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30D079A-C758-444A-B7FE-5C9084937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5623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4C29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F84C29"/>
                </a:solidFill>
                <a:latin typeface="Courier New"/>
                <a:ea typeface="Courier New"/>
                <a:cs typeface="Courier New"/>
              </a:rPr>
              <a:t>05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76AB27B-CADE-4F0B-9EAF-DFB965AD1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88620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975" b="0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Deploy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4DA2DD0-37D3-4F11-BA6C-93E4F7AAD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514850"/>
            <a:ext cx="10858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DEDBD2"/>
                </a:solidFill>
                <a:latin typeface="Courier New"/>
                <a:ea typeface="Courier New"/>
                <a:cs typeface="Courier New"/>
              </a:defRPr>
            </a:pPr>
            <a:r>
              <a:rPr sz="825" b="0">
                <a:solidFill>
                  <a:srgbClr val="DEDBD2"/>
                </a:solidFill>
                <a:latin typeface="Courier New"/>
                <a:ea typeface="Courier New"/>
                <a:cs typeface="Courier New"/>
              </a:rPr>
              <a:t>Files packaged for fast publishing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5A838A7-9161-431E-A3AA-65BFAA0BF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FFFFF">
                    <a:alpha val="60000"/>
                  </a:srgbClr>
                </a:solidFill>
                <a:latin typeface="Courier New"/>
                <a:ea typeface="Courier New"/>
                <a:cs typeface="Courier New"/>
              </a:defRPr>
            </a:pPr>
            <a:r>
              <a:rPr sz="750" b="0">
                <a:solidFill>
                  <a:srgbClr val="FFFFFF">
                    <a:alpha val="60000"/>
                  </a:srgbClr>
                </a:solidFill>
                <a:latin typeface="Courier New"/>
                <a:ea typeface="Courier New"/>
                <a:cs typeface="Courier New"/>
              </a:rPr>
              <a:t>SOURCE: INDEX.HTML WHY CHOOSE US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6B00200-3725-42CC-8988-08B07CC64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3890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FFFFFF">
                    <a:alpha val="60000"/>
                  </a:srgbClr>
                </a:solidFill>
                <a:latin typeface="Courier New"/>
                <a:ea typeface="Courier New"/>
                <a:cs typeface="Courier New"/>
              </a:defRPr>
            </a:pPr>
            <a:r>
              <a:rPr sz="750" b="0">
                <a:solidFill>
                  <a:srgbClr val="FFFFFF">
                    <a:alpha val="60000"/>
                  </a:srgbClr>
                </a:solidFill>
                <a:latin typeface="Courier New"/>
                <a:ea typeface="Courier New"/>
                <a:cs typeface="Courier New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81878069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fddcc66a0e4d9d"/>
          <a:srcRect xmlns:a="http://schemas.openxmlformats.org/drawingml/2006/main" l="0" t="7834" r="0" b="78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6BE0AD-505B-488C-A2AB-DCBCE394D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5098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62dc4aeb0f48ee"/>
          <a:stretch xmlns:a="http://schemas.openxmlformats.org/drawingml/2006/main"/>
        </p:blipFill>
        <p:spPr>
          <a:xfrm xmlns:a="http://schemas.openxmlformats.org/drawingml/2006/main">
            <a:off x="609600" y="495805"/>
            <a:ext cx="590550" cy="551441"/>
          </a:xfrm>
          <a:prstGeom xmlns:a="http://schemas.openxmlformats.org/drawingml/2006/main" prst="rect">
            <a:avLst/>
          </a:prstGeom>
        </p:spPr>
      </p:pic>
      <p:sp>
        <p:nvSpPr>
          <p:cNvPr id="4" name="kicker-8-marker">
            <a:extLst xmlns:a="http://schemas.openxmlformats.org/drawingml/2006/main">
              <a:ext uri="{FF2B5EF4-FFF2-40B4-BE49-F238E27FC236}">
                <a16:creationId xmlns:a16="http://schemas.microsoft.com/office/drawing/2014/main" id="{7F5CF871-37E6-4672-BF64-03E54BC2E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4C29"/>
          </a:solidFill>
          <a:ln xmlns:a="http://schemas.openxmlformats.org/drawingml/2006/main" w="0">
            <a:solidFill>
              <a:srgbClr val="F84C29"/>
            </a:solidFill>
            <a:prstDash val="solid"/>
          </a:ln>
        </p:spPr>
      </p:sp>
      <p:sp>
        <p:nvSpPr>
          <p:cNvPr id="5" name="kicker-8-label">
            <a:extLst xmlns:a="http://schemas.openxmlformats.org/drawingml/2006/main">
              <a:ext uri="{FF2B5EF4-FFF2-40B4-BE49-F238E27FC236}">
                <a16:creationId xmlns:a16="http://schemas.microsoft.com/office/drawing/2014/main" id="{8AC42739-7E23-4C9C-9D68-F8DF201DC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52550"/>
            <a:ext cx="3143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BRAND RULE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FF7AAB-48C4-4D32-8976-30EE7B189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752475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FFFFFF"/>
                </a:solidFill>
                <a:latin typeface="MonumentExtended"/>
                <a:ea typeface="MonumentExtended"/>
                <a:cs typeface="MonumentExtended"/>
              </a:defRPr>
            </a:pPr>
            <a:r>
              <a:rPr sz="3600" b="0">
                <a:solidFill>
                  <a:srgbClr val="FFFFFF"/>
                </a:solidFill>
                <a:latin typeface="MonumentExtended"/>
                <a:ea typeface="MonumentExtended"/>
                <a:cs typeface="MonumentExtended"/>
              </a:rPr>
              <a:t>Keep the frame dark. Keep the signal hot. Keep the moment real.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DCEF82-E247-4005-B4E4-2E448FFC8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81450"/>
            <a:ext cx="5334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EDBD2"/>
                </a:solidFill>
                <a:latin typeface="Space Grotesk"/>
                <a:ea typeface="Space Grotesk"/>
                <a:cs typeface="Space Grotesk"/>
              </a:defRPr>
            </a:pPr>
            <a:r>
              <a:rPr sz="1500" b="0">
                <a:solidFill>
                  <a:srgbClr val="DEDBD2"/>
                </a:solidFill>
                <a:latin typeface="Space Grotesk"/>
                <a:ea typeface="Space Grotesk"/>
                <a:cs typeface="Space Grotesk"/>
              </a:rPr>
              <a:t>That is the practical north star for Obskura's decks, proposals, socials, show recaps, and client-facing brand materials.</a:t>
            </a:r>
          </a:p>
        </p:txBody>
      </p:sp>
      <p:sp>
        <p:nvSpPr>
          <p:cNvPr id="8" name="rule">
            <a:extLst xmlns:a="http://schemas.openxmlformats.org/drawingml/2006/main">
              <a:ext uri="{FF2B5EF4-FFF2-40B4-BE49-F238E27FC236}">
                <a16:creationId xmlns:a16="http://schemas.microsoft.com/office/drawing/2014/main" id="{5AEF5D19-6B3B-456F-A0FF-39D42FA7E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48250"/>
            <a:ext cx="2190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4C29"/>
          </a:solidFill>
          <a:ln xmlns:a="http://schemas.openxmlformats.org/drawingml/2006/main" w="0">
            <a:solidFill>
              <a:srgbClr val="F84C2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9C2E6C-546E-4D5F-94BC-4C98622D1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58165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FFFFFF"/>
                </a:solidFill>
                <a:latin typeface="MonumentExtended"/>
                <a:ea typeface="MonumentExtended"/>
                <a:cs typeface="MonumentExtended"/>
              </a:defRPr>
            </a:pPr>
            <a:r>
              <a:rPr sz="1650" b="0">
                <a:solidFill>
                  <a:srgbClr val="FFFFFF"/>
                </a:solidFill>
                <a:latin typeface="MonumentExtended"/>
                <a:ea typeface="MonumentExtended"/>
                <a:cs typeface="MonumentExtended"/>
              </a:rPr>
              <a:t>OBSKURA STUDIOS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51DA31-1461-47F5-B8F8-DFDAAD3A4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6000750"/>
            <a:ext cx="3581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FFFFFF">
                    <a:alpha val="69020"/>
                  </a:srgbClr>
                </a:solidFill>
                <a:latin typeface="Courier New"/>
                <a:ea typeface="Courier New"/>
                <a:cs typeface="Courier New"/>
              </a:defRPr>
            </a:pPr>
            <a:r>
              <a:rPr sz="750" b="0">
                <a:solidFill>
                  <a:srgbClr val="FFFFFF">
                    <a:alpha val="69020"/>
                  </a:srgbClr>
                </a:solidFill>
                <a:latin typeface="Courier New"/>
                <a:ea typeface="Courier New"/>
                <a:cs typeface="Courier New"/>
              </a:rPr>
              <a:t>BRANDED CONTENT / PERFORMANCE COVERAGE / AFTER-MOVIES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364A4A-0B88-4FC1-911D-403905A9E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FFFFF">
                    <a:alpha val="60000"/>
                  </a:srgbClr>
                </a:solidFill>
                <a:latin typeface="Courier New"/>
                <a:ea typeface="Courier New"/>
                <a:cs typeface="Courier New"/>
              </a:defRPr>
            </a:pPr>
            <a:r>
              <a:rPr sz="750" b="0">
                <a:solidFill>
                  <a:srgbClr val="FFFFFF">
                    <a:alpha val="60000"/>
                  </a:srgbClr>
                </a:solidFill>
                <a:latin typeface="Courier New"/>
                <a:ea typeface="Courier New"/>
                <a:cs typeface="Courier New"/>
              </a:rPr>
              <a:t>END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7D8AFD-F50D-4C36-A333-80130856D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3890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FFFFFF">
                    <a:alpha val="60000"/>
                  </a:srgbClr>
                </a:solidFill>
                <a:latin typeface="Courier New"/>
                <a:ea typeface="Courier New"/>
                <a:cs typeface="Courier New"/>
              </a:defRPr>
            </a:pPr>
            <a:r>
              <a:rPr sz="750" b="0">
                <a:solidFill>
                  <a:srgbClr val="FFFFFF">
                    <a:alpha val="60000"/>
                  </a:srgbClr>
                </a:solidFill>
                <a:latin typeface="Courier New"/>
                <a:ea typeface="Courier New"/>
                <a:cs typeface="Courier New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2539861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2026-05-22T16:41:36.5740000Z</dcterms:created>
  <dcterms:modified xsi:type="dcterms:W3CDTF">2026-05-22T16:41:36.5740000Z</dcterms:modified>
</coreProperties>
</file>